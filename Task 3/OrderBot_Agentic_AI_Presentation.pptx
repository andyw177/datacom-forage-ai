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Problem: Our Current Order Process Is a Bottleneck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</a:rPr>
              <a:t>Current state analysis of the manual hardware order workflow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4F4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463040"/>
            <a:ext cx="17465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Sales Rep Emails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PDF Order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59152" y="1563624"/>
            <a:ext cx="100584" cy="256032"/>
          </a:xfrm>
          <a:prstGeom prst="chevron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78024" y="13716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4F4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1463040"/>
            <a:ext cx="17465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Shared Inbox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Receives Order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563624"/>
            <a:ext cx="100584" cy="256032"/>
          </a:xfrm>
          <a:prstGeom prst="chevron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3716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4F4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463040"/>
            <a:ext cx="17465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Ops Reads 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Manually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563624"/>
            <a:ext cx="100584" cy="256032"/>
          </a:xfrm>
          <a:prstGeom prst="chevron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13716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4F4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463040"/>
            <a:ext cx="17465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Checks Account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in Salesforce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21624" y="1563624"/>
            <a:ext cx="100584" cy="256032"/>
          </a:xfrm>
          <a:prstGeom prst="chevron">
            <a:avLst/>
          </a:prstGeom>
          <a:solidFill>
            <a:srgbClr val="C62828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496" y="137160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FFF4F4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04504" y="1463040"/>
            <a:ext cx="1746504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Checks Stock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B1F1F"/>
                </a:solidFill>
              </a:rPr>
              <a:t>Google Sheets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2514600"/>
            <a:ext cx="1097280" cy="749808"/>
          </a:xfrm>
          <a:prstGeom prst="diamond">
            <a:avLst/>
          </a:prstGeom>
          <a:solidFill>
            <a:srgbClr val="FFF4E5"/>
          </a:solidFill>
          <a:ln w="15875">
            <a:solidFill>
              <a:srgbClr val="C47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2734056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A00"/>
                </a:solidFill>
              </a:rPr>
              <a:t>Decision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26700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</a:rPr>
              <a:t>If problem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26480" y="26700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</a:rPr>
              <a:t>If valid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2880360"/>
            <a:ext cx="685800" cy="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2880360"/>
            <a:ext cx="713232" cy="0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14600" y="2423160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5875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2587752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Email sales rep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and wait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242316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2587752"/>
            <a:ext cx="1627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Send customer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warehouse emails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730752"/>
            <a:ext cx="5074920" cy="2450592"/>
          </a:xfrm>
          <a:prstGeom prst="roundRect">
            <a:avLst>
              <a:gd name="adj" fmla="val 2985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913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Key Pain Points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9808" y="4251960"/>
            <a:ext cx="452628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Multiple manual handoffs slow down every order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Staff switch between Email, PDFs, Salesforce, and Sheets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Copying and checking data manually increases error risk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Exception cases depend on email back-and-forth and cause long delays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Orders stall when staff are unavailable or inbox volume spikes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806440" y="3730752"/>
            <a:ext cx="5806440" cy="2450592"/>
          </a:xfrm>
          <a:prstGeom prst="roundRect">
            <a:avLst>
              <a:gd name="adj" fmla="val 2985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3328" y="39136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Illustrative Metrics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126480" y="431596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</a:rPr>
              <a:t>10 to 15 min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26480" y="46817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</a:rPr>
              <a:t>average handling time per order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75320" y="4315968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7A00"/>
                </a:solidFill>
              </a:rPr>
              <a:t>Hours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8275320" y="4681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</a:rPr>
              <a:t>possible delay when an exception needs clarification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44768" y="52303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FED"/>
                </a:solidFill>
              </a:rPr>
              <a:t>High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12280" y="53400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</a:rPr>
              <a:t>dependency on specific ops staff availability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Solution: Introducing OrderBot, Our Autonomous AI Agent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</a:rPr>
              <a:t>A conceptual agentic workflow that automates standard order handling end-to-end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5488" y="1353312"/>
            <a:ext cx="2121408" cy="786384"/>
          </a:xfrm>
          <a:prstGeom prst="roundRect">
            <a:avLst>
              <a:gd name="adj" fmla="val 9302"/>
            </a:avLst>
          </a:prstGeom>
          <a:solidFill>
            <a:srgbClr val="EEF7F2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1444752"/>
            <a:ext cx="19933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3B"/>
                </a:solidFill>
              </a:rPr>
              <a:t>New Email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5C3B"/>
                </a:solidFill>
              </a:rPr>
              <a:t>Detected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24328" y="1545336"/>
            <a:ext cx="118872" cy="256032"/>
          </a:xfrm>
          <a:prstGeom prst="chevron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61488" y="1353312"/>
            <a:ext cx="2121408" cy="786384"/>
          </a:xfrm>
          <a:prstGeom prst="roundRect">
            <a:avLst>
              <a:gd name="adj" fmla="val 9302"/>
            </a:avLst>
          </a:prstGeom>
          <a:solidFill>
            <a:srgbClr val="EEF7F2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25496" y="1444752"/>
            <a:ext cx="19933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3B"/>
                </a:solidFill>
              </a:rPr>
              <a:t>Parse 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5C3B"/>
                </a:solidFill>
              </a:rPr>
              <a:t>Order 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10328" y="1545336"/>
            <a:ext cx="118872" cy="256032"/>
          </a:xfrm>
          <a:prstGeom prst="chevron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47488" y="1353312"/>
            <a:ext cx="2121408" cy="786384"/>
          </a:xfrm>
          <a:prstGeom prst="roundRect">
            <a:avLst>
              <a:gd name="adj" fmla="val 9302"/>
            </a:avLst>
          </a:prstGeom>
          <a:solidFill>
            <a:srgbClr val="EEF7F2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1496" y="1444752"/>
            <a:ext cx="19933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3B"/>
                </a:solidFill>
              </a:rPr>
              <a:t>Check Account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5C3B"/>
                </a:solidFill>
              </a:rPr>
              <a:t>in Salesforce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96328" y="1545336"/>
            <a:ext cx="118872" cy="256032"/>
          </a:xfrm>
          <a:prstGeom prst="chevron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33488" y="1353312"/>
            <a:ext cx="2121408" cy="786384"/>
          </a:xfrm>
          <a:prstGeom prst="roundRect">
            <a:avLst>
              <a:gd name="adj" fmla="val 9302"/>
            </a:avLst>
          </a:prstGeom>
          <a:solidFill>
            <a:srgbClr val="EEF7F2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496" y="1444752"/>
            <a:ext cx="19933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C3B"/>
                </a:solidFill>
              </a:rPr>
              <a:t>Check Inventory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55C3B"/>
                </a:solidFill>
              </a:rPr>
              <a:t>in Sheets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83480" y="2487168"/>
            <a:ext cx="1097280" cy="749808"/>
          </a:xfrm>
          <a:prstGeom prst="diamond">
            <a:avLst/>
          </a:prstGeom>
          <a:solidFill>
            <a:srgbClr val="FFF4E5"/>
          </a:solidFill>
          <a:ln w="15875">
            <a:solidFill>
              <a:srgbClr val="C47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706624"/>
            <a:ext cx="8595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A00"/>
                </a:solidFill>
              </a:rPr>
              <a:t>Decision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64261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</a:rPr>
              <a:t>Exception case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642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</a:rPr>
              <a:t>Successful case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2852928"/>
            <a:ext cx="685800" cy="0"/>
          </a:xfrm>
          <a:prstGeom prst="line">
            <a:avLst/>
          </a:prstGeom>
          <a:noFill/>
          <a:ln w="19050">
            <a:solidFill>
              <a:srgbClr val="C47A0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2852928"/>
            <a:ext cx="713232" cy="0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14600" y="2395728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5875">
            <a:solidFill>
              <a:srgbClr val="C47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87752" y="2560320"/>
            <a:ext cx="14447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Notify sales rep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62828"/>
                </a:solidFill>
              </a:rPr>
              <a:t>ops team for review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2395728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 w="15875">
            <a:solidFill>
              <a:srgbClr val="1E8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2560320"/>
            <a:ext cx="1627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Send confirmation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8E5A"/>
                </a:solidFill>
              </a:rPr>
              <a:t>fulfilment request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5212080" cy="2578608"/>
          </a:xfrm>
          <a:prstGeom prst="roundRect">
            <a:avLst>
              <a:gd name="adj" fmla="val 2837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385876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How OrderBot Works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68096" y="4187952"/>
            <a:ext cx="4617720" cy="1783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Monitors the shared inbox continuously for new order emails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Extracts customer and product details from attached PDFs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Checks account status in Salesforce and stock in Google Sheets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Chooses either an auto-complete path or a human-review exception path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Logs every outcome for traceability and future optimisation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3657600"/>
            <a:ext cx="5623560" cy="2578608"/>
          </a:xfrm>
          <a:prstGeom prst="roundRect">
            <a:avLst>
              <a:gd name="adj" fmla="val 2837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8587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Agent Design Summary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199632" y="4187952"/>
            <a:ext cx="498348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Goal: process new hardware orders within 5 minutes at 99.5% target accuracy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Perception tools: Email API, PDF parser, Salesforce API, Google Sheets API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Action tools: send confirmations, warehouse requests, and exception notifications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Learning loop: identify recurring error patterns and improve exception routing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Impact &amp; Recommended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B"/>
                </a:solidFill>
              </a:rPr>
              <a:t>A low-risk pathway to validate value before full operational rollout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1155680" cy="1207008"/>
          </a:xfrm>
          <a:prstGeom prst="roundRect">
            <a:avLst>
              <a:gd name="adj" fmla="val 6061"/>
            </a:avLst>
          </a:prstGeom>
          <a:solidFill>
            <a:srgbClr val="EAF3FF"/>
          </a:solidFill>
          <a:ln w="12700">
            <a:solidFill>
              <a:srgbClr val="B7D0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OrderBot shifts order processing from a person-dependent manual workflow to a faster, more consistent, and scalable operating model.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2761488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80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8E5A"/>
                </a:solidFill>
              </a:rPr>
              <a:t>Minutes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3419856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6B7B"/>
                </a:solidFill>
              </a:rPr>
              <a:t>rather than 10-15 minutes per order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429000" y="2761488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980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D"/>
                </a:solidFill>
              </a:rPr>
              <a:t>Fewer errors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93592" y="3419856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6B7B"/>
                </a:solidFill>
              </a:rPr>
              <a:t>less manual reading and cross-checking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263640" y="2761488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980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7A00"/>
                </a:solidFill>
              </a:rPr>
              <a:t>More capacity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8232" y="3419856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6B7B"/>
                </a:solidFill>
              </a:rPr>
              <a:t>ops time freed for exceptions and service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098280" y="2761488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29809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62828"/>
                </a:solidFill>
              </a:rPr>
              <a:t>Faster replies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62872" y="3419856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B6B7B"/>
                </a:solidFill>
              </a:rPr>
              <a:t>quicker confirmations improve customer experience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02920" y="45262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736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Recommended Next Step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68096" y="5047488"/>
            <a:ext cx="4709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Run a read-only proof of concept first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Let OrderBot monitor emails, parse PDFs, and recommend decisions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Keep human staff responsible for final actions during validation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Measure time saved, recommendation accuracy, and exception frequency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452628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9FB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47365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Success Measures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37376" y="5047488"/>
            <a:ext cx="46634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99.5% target decision accuracy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Faster order acknowledgement and fulfilment initiation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Lower manual workload for operations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Clear audit trail for every order decision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Datacom Forage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OrderBot - Automating Business Analysis with Agentic AI</dc:title>
  <dc:subject>Task 3 Agentic AI Presentation</dc:subject>
  <dc:creator>OpenAI Codex</dc:creator>
  <cp:lastModifiedBy>OpenAI Codex</cp:lastModifiedBy>
  <cp:revision>1</cp:revision>
  <dcterms:created xsi:type="dcterms:W3CDTF">2026-06-27T21:26:31Z</dcterms:created>
  <dcterms:modified xsi:type="dcterms:W3CDTF">2026-06-27T21:26:31Z</dcterms:modified>
</cp:coreProperties>
</file>